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8" d="100"/>
          <a:sy n="68" d="100"/>
        </p:scale>
        <p:origin x="96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BB7FCD-4AF4-401F-A7D5-EAE16ED86642}" type="datetimeFigureOut">
              <a:rPr lang="en-US" smtClean="0"/>
              <a:t>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521DBE-4717-40A3-8C63-0B2911DF1962}" type="slidenum">
              <a:rPr lang="en-US" smtClean="0"/>
              <a:t>‹#›</a:t>
            </a:fld>
            <a:endParaRPr lang="en-US"/>
          </a:p>
        </p:txBody>
      </p:sp>
    </p:spTree>
    <p:extLst>
      <p:ext uri="{BB962C8B-B14F-4D97-AF65-F5344CB8AC3E}">
        <p14:creationId xmlns:p14="http://schemas.microsoft.com/office/powerpoint/2010/main" val="2305105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a:t>
            </a:r>
          </a:p>
        </p:txBody>
      </p:sp>
      <p:sp>
        <p:nvSpPr>
          <p:cNvPr id="4" name="Slide Number Placeholder 3"/>
          <p:cNvSpPr>
            <a:spLocks noGrp="1"/>
          </p:cNvSpPr>
          <p:nvPr>
            <p:ph type="sldNum" sz="quarter" idx="5"/>
          </p:nvPr>
        </p:nvSpPr>
        <p:spPr/>
        <p:txBody>
          <a:bodyPr/>
          <a:lstStyle/>
          <a:p>
            <a:fld id="{83521DBE-4717-40A3-8C63-0B2911DF1962}" type="slidenum">
              <a:rPr lang="en-US" smtClean="0"/>
              <a:t>1</a:t>
            </a:fld>
            <a:endParaRPr lang="en-US"/>
          </a:p>
        </p:txBody>
      </p:sp>
    </p:spTree>
    <p:extLst>
      <p:ext uri="{BB962C8B-B14F-4D97-AF65-F5344CB8AC3E}">
        <p14:creationId xmlns:p14="http://schemas.microsoft.com/office/powerpoint/2010/main" val="5363666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Agile Roles - </a:t>
            </a:r>
            <a:r>
              <a:rPr lang="en-US" sz="1200" b="0" i="0" kern="1200" dirty="0">
                <a:solidFill>
                  <a:schemeClr val="tx1"/>
                </a:solidFill>
                <a:effectLst/>
                <a:latin typeface="+mn-lt"/>
                <a:ea typeface="+mn-ea"/>
                <a:cs typeface="+mn-cs"/>
              </a:rPr>
              <a:t>Explain the various roles on a Scrum-Agile Team by identifying each role and describing its importance.</a:t>
            </a:r>
            <a:endParaRPr lang="en-US" dirty="0"/>
          </a:p>
        </p:txBody>
      </p:sp>
      <p:sp>
        <p:nvSpPr>
          <p:cNvPr id="4" name="Slide Number Placeholder 3"/>
          <p:cNvSpPr>
            <a:spLocks noGrp="1"/>
          </p:cNvSpPr>
          <p:nvPr>
            <p:ph type="sldNum" sz="quarter" idx="5"/>
          </p:nvPr>
        </p:nvSpPr>
        <p:spPr/>
        <p:txBody>
          <a:bodyPr/>
          <a:lstStyle/>
          <a:p>
            <a:fld id="{83521DBE-4717-40A3-8C63-0B2911DF1962}" type="slidenum">
              <a:rPr lang="en-US" smtClean="0"/>
              <a:t>2</a:t>
            </a:fld>
            <a:endParaRPr lang="en-US"/>
          </a:p>
        </p:txBody>
      </p:sp>
    </p:spTree>
    <p:extLst>
      <p:ext uri="{BB962C8B-B14F-4D97-AF65-F5344CB8AC3E}">
        <p14:creationId xmlns:p14="http://schemas.microsoft.com/office/powerpoint/2010/main" val="2537483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Agile Phases - </a:t>
            </a:r>
            <a:r>
              <a:rPr lang="en-US" sz="1200" b="0" i="0" kern="1200" dirty="0">
                <a:solidFill>
                  <a:schemeClr val="tx1"/>
                </a:solidFill>
                <a:effectLst/>
                <a:latin typeface="+mn-lt"/>
                <a:ea typeface="+mn-ea"/>
                <a:cs typeface="+mn-cs"/>
              </a:rPr>
              <a:t>Explain how the various phases of the SDLC work in an Agile approach. Identify each phase and describe its importance.</a:t>
            </a:r>
            <a:endParaRPr lang="en-US" dirty="0"/>
          </a:p>
        </p:txBody>
      </p:sp>
      <p:sp>
        <p:nvSpPr>
          <p:cNvPr id="4" name="Slide Number Placeholder 3"/>
          <p:cNvSpPr>
            <a:spLocks noGrp="1"/>
          </p:cNvSpPr>
          <p:nvPr>
            <p:ph type="sldNum" sz="quarter" idx="5"/>
          </p:nvPr>
        </p:nvSpPr>
        <p:spPr/>
        <p:txBody>
          <a:bodyPr/>
          <a:lstStyle/>
          <a:p>
            <a:fld id="{83521DBE-4717-40A3-8C63-0B2911DF1962}" type="slidenum">
              <a:rPr lang="en-US" smtClean="0"/>
              <a:t>3</a:t>
            </a:fld>
            <a:endParaRPr lang="en-US"/>
          </a:p>
        </p:txBody>
      </p:sp>
    </p:spTree>
    <p:extLst>
      <p:ext uri="{BB962C8B-B14F-4D97-AF65-F5344CB8AC3E}">
        <p14:creationId xmlns:p14="http://schemas.microsoft.com/office/powerpoint/2010/main" val="19701880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Waterfall Model - </a:t>
            </a:r>
            <a:r>
              <a:rPr lang="en-US" sz="1200" b="0" i="0" kern="1200" dirty="0">
                <a:solidFill>
                  <a:schemeClr val="tx1"/>
                </a:solidFill>
                <a:effectLst/>
                <a:latin typeface="+mn-lt"/>
                <a:ea typeface="+mn-ea"/>
                <a:cs typeface="+mn-cs"/>
              </a:rPr>
              <a:t>Describe how the process would have been different in a waterfall development approach rather than the Agile approach you used. For instance, you might discuss how a particular problem in development would have proceeded differently.</a:t>
            </a:r>
            <a:endParaRPr lang="en-US" dirty="0"/>
          </a:p>
        </p:txBody>
      </p:sp>
      <p:sp>
        <p:nvSpPr>
          <p:cNvPr id="4" name="Slide Number Placeholder 3"/>
          <p:cNvSpPr>
            <a:spLocks noGrp="1"/>
          </p:cNvSpPr>
          <p:nvPr>
            <p:ph type="sldNum" sz="quarter" idx="5"/>
          </p:nvPr>
        </p:nvSpPr>
        <p:spPr/>
        <p:txBody>
          <a:bodyPr/>
          <a:lstStyle/>
          <a:p>
            <a:fld id="{83521DBE-4717-40A3-8C63-0B2911DF1962}" type="slidenum">
              <a:rPr lang="en-US" smtClean="0"/>
              <a:t>4</a:t>
            </a:fld>
            <a:endParaRPr lang="en-US"/>
          </a:p>
        </p:txBody>
      </p:sp>
    </p:spTree>
    <p:extLst>
      <p:ext uri="{BB962C8B-B14F-4D97-AF65-F5344CB8AC3E}">
        <p14:creationId xmlns:p14="http://schemas.microsoft.com/office/powerpoint/2010/main" val="25413546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Waterfall vs Agile Approach - </a:t>
            </a:r>
            <a:r>
              <a:rPr lang="en-US" sz="1200" b="0" i="0" kern="1200" dirty="0">
                <a:solidFill>
                  <a:schemeClr val="tx1"/>
                </a:solidFill>
                <a:effectLst/>
                <a:latin typeface="+mn-lt"/>
                <a:ea typeface="+mn-ea"/>
                <a:cs typeface="+mn-cs"/>
              </a:rPr>
              <a:t>Explain the factors to consider when choosing a waterfall or Agile approach, using your course experience to back up your explanation.</a:t>
            </a:r>
            <a:endParaRPr lang="en-US" dirty="0"/>
          </a:p>
        </p:txBody>
      </p:sp>
      <p:sp>
        <p:nvSpPr>
          <p:cNvPr id="4" name="Slide Number Placeholder 3"/>
          <p:cNvSpPr>
            <a:spLocks noGrp="1"/>
          </p:cNvSpPr>
          <p:nvPr>
            <p:ph type="sldNum" sz="quarter" idx="5"/>
          </p:nvPr>
        </p:nvSpPr>
        <p:spPr/>
        <p:txBody>
          <a:bodyPr/>
          <a:lstStyle/>
          <a:p>
            <a:fld id="{83521DBE-4717-40A3-8C63-0B2911DF1962}" type="slidenum">
              <a:rPr lang="en-US" smtClean="0"/>
              <a:t>5</a:t>
            </a:fld>
            <a:endParaRPr lang="en-US"/>
          </a:p>
        </p:txBody>
      </p:sp>
    </p:spTree>
    <p:extLst>
      <p:ext uri="{BB962C8B-B14F-4D97-AF65-F5344CB8AC3E}">
        <p14:creationId xmlns:p14="http://schemas.microsoft.com/office/powerpoint/2010/main" val="18056641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a:t>
            </a:r>
          </a:p>
        </p:txBody>
      </p:sp>
      <p:sp>
        <p:nvSpPr>
          <p:cNvPr id="4" name="Slide Number Placeholder 3"/>
          <p:cNvSpPr>
            <a:spLocks noGrp="1"/>
          </p:cNvSpPr>
          <p:nvPr>
            <p:ph type="sldNum" sz="quarter" idx="5"/>
          </p:nvPr>
        </p:nvSpPr>
        <p:spPr/>
        <p:txBody>
          <a:bodyPr/>
          <a:lstStyle/>
          <a:p>
            <a:fld id="{83521DBE-4717-40A3-8C63-0B2911DF1962}" type="slidenum">
              <a:rPr lang="en-US" smtClean="0"/>
              <a:t>6</a:t>
            </a:fld>
            <a:endParaRPr lang="en-US"/>
          </a:p>
        </p:txBody>
      </p:sp>
    </p:spTree>
    <p:extLst>
      <p:ext uri="{BB962C8B-B14F-4D97-AF65-F5344CB8AC3E}">
        <p14:creationId xmlns:p14="http://schemas.microsoft.com/office/powerpoint/2010/main" val="694974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DE8AAFD-9C37-413D-B78A-26FD9200126E}"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271D3-1919-478E-92DE-9182EA661A9A}"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48778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E8AAFD-9C37-413D-B78A-26FD9200126E}"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271D3-1919-478E-92DE-9182EA661A9A}" type="slidenum">
              <a:rPr lang="en-US" smtClean="0"/>
              <a:t>‹#›</a:t>
            </a:fld>
            <a:endParaRPr lang="en-US"/>
          </a:p>
        </p:txBody>
      </p:sp>
    </p:spTree>
    <p:extLst>
      <p:ext uri="{BB962C8B-B14F-4D97-AF65-F5344CB8AC3E}">
        <p14:creationId xmlns:p14="http://schemas.microsoft.com/office/powerpoint/2010/main" val="1728446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E8AAFD-9C37-413D-B78A-26FD9200126E}"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271D3-1919-478E-92DE-9182EA661A9A}" type="slidenum">
              <a:rPr lang="en-US" smtClean="0"/>
              <a:t>‹#›</a:t>
            </a:fld>
            <a:endParaRPr lang="en-US"/>
          </a:p>
        </p:txBody>
      </p:sp>
    </p:spTree>
    <p:extLst>
      <p:ext uri="{BB962C8B-B14F-4D97-AF65-F5344CB8AC3E}">
        <p14:creationId xmlns:p14="http://schemas.microsoft.com/office/powerpoint/2010/main" val="24200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DE8AAFD-9C37-413D-B78A-26FD9200126E}" type="datetimeFigureOut">
              <a:rPr lang="en-US" smtClean="0"/>
              <a:t>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271D3-1919-478E-92DE-9182EA661A9A}" type="slidenum">
              <a:rPr lang="en-US" smtClean="0"/>
              <a:t>‹#›</a:t>
            </a:fld>
            <a:endParaRPr lang="en-US"/>
          </a:p>
        </p:txBody>
      </p:sp>
    </p:spTree>
    <p:extLst>
      <p:ext uri="{BB962C8B-B14F-4D97-AF65-F5344CB8AC3E}">
        <p14:creationId xmlns:p14="http://schemas.microsoft.com/office/powerpoint/2010/main" val="1676745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DE8AAFD-9C37-413D-B78A-26FD9200126E}" type="datetimeFigureOut">
              <a:rPr lang="en-US" smtClean="0"/>
              <a:t>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B271D3-1919-478E-92DE-9182EA661A9A}" type="slidenum">
              <a:rPr lang="en-US" smtClean="0"/>
              <a:t>‹#›</a:t>
            </a:fld>
            <a:endParaRPr lang="en-US"/>
          </a:p>
        </p:txBody>
      </p:sp>
    </p:spTree>
    <p:extLst>
      <p:ext uri="{BB962C8B-B14F-4D97-AF65-F5344CB8AC3E}">
        <p14:creationId xmlns:p14="http://schemas.microsoft.com/office/powerpoint/2010/main" val="3238505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DE8AAFD-9C37-413D-B78A-26FD9200126E}" type="datetimeFigureOut">
              <a:rPr lang="en-US" smtClean="0"/>
              <a:t>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B271D3-1919-478E-92DE-9182EA661A9A}" type="slidenum">
              <a:rPr lang="en-US" smtClean="0"/>
              <a:t>‹#›</a:t>
            </a:fld>
            <a:endParaRPr lang="en-US"/>
          </a:p>
        </p:txBody>
      </p:sp>
    </p:spTree>
    <p:extLst>
      <p:ext uri="{BB962C8B-B14F-4D97-AF65-F5344CB8AC3E}">
        <p14:creationId xmlns:p14="http://schemas.microsoft.com/office/powerpoint/2010/main" val="2152516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E8AAFD-9C37-413D-B78A-26FD9200126E}" type="datetimeFigureOut">
              <a:rPr lang="en-US" smtClean="0"/>
              <a:t>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B271D3-1919-478E-92DE-9182EA661A9A}" type="slidenum">
              <a:rPr lang="en-US" smtClean="0"/>
              <a:t>‹#›</a:t>
            </a:fld>
            <a:endParaRPr lang="en-US"/>
          </a:p>
        </p:txBody>
      </p:sp>
    </p:spTree>
    <p:extLst>
      <p:ext uri="{BB962C8B-B14F-4D97-AF65-F5344CB8AC3E}">
        <p14:creationId xmlns:p14="http://schemas.microsoft.com/office/powerpoint/2010/main" val="2534778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E8AAFD-9C37-413D-B78A-26FD9200126E}" type="datetimeFigureOut">
              <a:rPr lang="en-US" smtClean="0"/>
              <a:t>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271D3-1919-478E-92DE-9182EA661A9A}" type="slidenum">
              <a:rPr lang="en-US" smtClean="0"/>
              <a:t>‹#›</a:t>
            </a:fld>
            <a:endParaRPr lang="en-US"/>
          </a:p>
        </p:txBody>
      </p:sp>
    </p:spTree>
    <p:extLst>
      <p:ext uri="{BB962C8B-B14F-4D97-AF65-F5344CB8AC3E}">
        <p14:creationId xmlns:p14="http://schemas.microsoft.com/office/powerpoint/2010/main" val="3702365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E8AAFD-9C37-413D-B78A-26FD9200126E}" type="datetimeFigureOut">
              <a:rPr lang="en-US" smtClean="0"/>
              <a:t>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271D3-1919-478E-92DE-9182EA661A9A}" type="slidenum">
              <a:rPr lang="en-US" smtClean="0"/>
              <a:t>‹#›</a:t>
            </a:fld>
            <a:endParaRPr lang="en-US"/>
          </a:p>
        </p:txBody>
      </p:sp>
    </p:spTree>
    <p:extLst>
      <p:ext uri="{BB962C8B-B14F-4D97-AF65-F5344CB8AC3E}">
        <p14:creationId xmlns:p14="http://schemas.microsoft.com/office/powerpoint/2010/main" val="1773027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FDE8AAFD-9C37-413D-B78A-26FD9200126E}" type="datetimeFigureOut">
              <a:rPr lang="en-US" smtClean="0"/>
              <a:t>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B271D3-1919-478E-92DE-9182EA661A9A}" type="slidenum">
              <a:rPr lang="en-US" smtClean="0"/>
              <a:t>‹#›</a:t>
            </a:fld>
            <a:endParaRPr lang="en-US"/>
          </a:p>
        </p:txBody>
      </p:sp>
    </p:spTree>
    <p:extLst>
      <p:ext uri="{BB962C8B-B14F-4D97-AF65-F5344CB8AC3E}">
        <p14:creationId xmlns:p14="http://schemas.microsoft.com/office/powerpoint/2010/main" val="1987378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E8AAFD-9C37-413D-B78A-26FD9200126E}"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271D3-1919-478E-92DE-9182EA661A9A}" type="slidenum">
              <a:rPr lang="en-US" smtClean="0"/>
              <a:t>‹#›</a:t>
            </a:fld>
            <a:endParaRPr lang="en-US"/>
          </a:p>
        </p:txBody>
      </p:sp>
    </p:spTree>
    <p:extLst>
      <p:ext uri="{BB962C8B-B14F-4D97-AF65-F5344CB8AC3E}">
        <p14:creationId xmlns:p14="http://schemas.microsoft.com/office/powerpoint/2010/main" val="18802856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E8AAFD-9C37-413D-B78A-26FD9200126E}"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271D3-1919-478E-92DE-9182EA661A9A}"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1587190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E8AAFD-9C37-413D-B78A-26FD9200126E}"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271D3-1919-478E-92DE-9182EA661A9A}" type="slidenum">
              <a:rPr lang="en-US" smtClean="0"/>
              <a:t>‹#›</a:t>
            </a:fld>
            <a:endParaRPr lang="en-US"/>
          </a:p>
        </p:txBody>
      </p:sp>
    </p:spTree>
    <p:extLst>
      <p:ext uri="{BB962C8B-B14F-4D97-AF65-F5344CB8AC3E}">
        <p14:creationId xmlns:p14="http://schemas.microsoft.com/office/powerpoint/2010/main" val="36458795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E8AAFD-9C37-413D-B78A-26FD9200126E}"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271D3-1919-478E-92DE-9182EA661A9A}"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40949540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E8AAFD-9C37-413D-B78A-26FD9200126E}"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271D3-1919-478E-92DE-9182EA661A9A}" type="slidenum">
              <a:rPr lang="en-US" smtClean="0"/>
              <a:t>‹#›</a:t>
            </a:fld>
            <a:endParaRPr lang="en-US"/>
          </a:p>
        </p:txBody>
      </p:sp>
    </p:spTree>
    <p:extLst>
      <p:ext uri="{BB962C8B-B14F-4D97-AF65-F5344CB8AC3E}">
        <p14:creationId xmlns:p14="http://schemas.microsoft.com/office/powerpoint/2010/main" val="914982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E8AAFD-9C37-413D-B78A-26FD9200126E}"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271D3-1919-478E-92DE-9182EA661A9A}" type="slidenum">
              <a:rPr lang="en-US" smtClean="0"/>
              <a:t>‹#›</a:t>
            </a:fld>
            <a:endParaRPr lang="en-US"/>
          </a:p>
        </p:txBody>
      </p:sp>
    </p:spTree>
    <p:extLst>
      <p:ext uri="{BB962C8B-B14F-4D97-AF65-F5344CB8AC3E}">
        <p14:creationId xmlns:p14="http://schemas.microsoft.com/office/powerpoint/2010/main" val="11761537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E8AAFD-9C37-413D-B78A-26FD9200126E}"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271D3-1919-478E-92DE-9182EA661A9A}" type="slidenum">
              <a:rPr lang="en-US" smtClean="0"/>
              <a:t>‹#›</a:t>
            </a:fld>
            <a:endParaRPr lang="en-US"/>
          </a:p>
        </p:txBody>
      </p:sp>
    </p:spTree>
    <p:extLst>
      <p:ext uri="{BB962C8B-B14F-4D97-AF65-F5344CB8AC3E}">
        <p14:creationId xmlns:p14="http://schemas.microsoft.com/office/powerpoint/2010/main" val="19772173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FDE8AAFD-9C37-413D-B78A-26FD9200126E}" type="datetimeFigureOut">
              <a:rPr lang="en-US" smtClean="0"/>
              <a:t>3/1/2026</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8CB271D3-1919-478E-92DE-9182EA661A9A}" type="slidenum">
              <a:rPr lang="en-US" smtClean="0"/>
              <a:t>‹#›</a:t>
            </a:fld>
            <a:endParaRPr lang="en-US"/>
          </a:p>
        </p:txBody>
      </p:sp>
    </p:spTree>
    <p:extLst>
      <p:ext uri="{BB962C8B-B14F-4D97-AF65-F5344CB8AC3E}">
        <p14:creationId xmlns:p14="http://schemas.microsoft.com/office/powerpoint/2010/main" val="65581336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609862E-48F9-45AC-8D44-67A0268A7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97986E7-0E3C-4F64-886E-935DDCB83A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73033" y="1420238"/>
            <a:ext cx="4415786" cy="4751961"/>
            <a:chOff x="9206969" y="2963333"/>
            <a:chExt cx="2981858" cy="3208867"/>
          </a:xfrm>
        </p:grpSpPr>
        <p:cxnSp>
          <p:nvCxnSpPr>
            <p:cNvPr id="11" name="Straight Connector 10">
              <a:extLst>
                <a:ext uri="{FF2B5EF4-FFF2-40B4-BE49-F238E27FC236}">
                  <a16:creationId xmlns:a16="http://schemas.microsoft.com/office/drawing/2014/main" id="{B903D17F-F79E-40E5-9563-A1CFFCC06A2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A5D5775-627F-4588-82B3-905EDF2313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7D7F2A20-5DE4-4BC0-91EA-5FFE33A4D3A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D536BA0-56C7-429C-B41E-B5724F0CD4C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1F15726F-71BE-4007-B9B6-0A1AA0D520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grpSp>
      <p:sp>
        <p:nvSpPr>
          <p:cNvPr id="2" name="Title 1">
            <a:extLst>
              <a:ext uri="{FF2B5EF4-FFF2-40B4-BE49-F238E27FC236}">
                <a16:creationId xmlns:a16="http://schemas.microsoft.com/office/drawing/2014/main" id="{B7382C82-EB28-BD46-26D6-EE5706D05F57}"/>
              </a:ext>
            </a:extLst>
          </p:cNvPr>
          <p:cNvSpPr>
            <a:spLocks noGrp="1"/>
          </p:cNvSpPr>
          <p:nvPr>
            <p:ph type="ctrTitle"/>
          </p:nvPr>
        </p:nvSpPr>
        <p:spPr>
          <a:xfrm>
            <a:off x="684211" y="685799"/>
            <a:ext cx="8420877" cy="2971801"/>
          </a:xfrm>
        </p:spPr>
        <p:txBody>
          <a:bodyPr>
            <a:normAutofit/>
          </a:bodyPr>
          <a:lstStyle/>
          <a:p>
            <a:r>
              <a:rPr lang="en-US" dirty="0"/>
              <a:t>CS250 Final Project: Agile Presentation</a:t>
            </a:r>
          </a:p>
        </p:txBody>
      </p:sp>
      <p:sp>
        <p:nvSpPr>
          <p:cNvPr id="3" name="Subtitle 2">
            <a:extLst>
              <a:ext uri="{FF2B5EF4-FFF2-40B4-BE49-F238E27FC236}">
                <a16:creationId xmlns:a16="http://schemas.microsoft.com/office/drawing/2014/main" id="{E7A1F929-422E-C798-3E9E-A6EBB93612FF}"/>
              </a:ext>
            </a:extLst>
          </p:cNvPr>
          <p:cNvSpPr>
            <a:spLocks noGrp="1"/>
          </p:cNvSpPr>
          <p:nvPr>
            <p:ph type="subTitle" idx="1"/>
          </p:nvPr>
        </p:nvSpPr>
        <p:spPr>
          <a:xfrm>
            <a:off x="684212" y="3843867"/>
            <a:ext cx="6400800" cy="1947333"/>
          </a:xfrm>
        </p:spPr>
        <p:txBody>
          <a:bodyPr>
            <a:normAutofit/>
          </a:bodyPr>
          <a:lstStyle/>
          <a:p>
            <a:r>
              <a:rPr lang="en-US" dirty="0">
                <a:solidFill>
                  <a:schemeClr val="tx2">
                    <a:lumMod val="75000"/>
                  </a:schemeClr>
                </a:solidFill>
              </a:rPr>
              <a:t>Keith Tomany</a:t>
            </a:r>
            <a:br>
              <a:rPr lang="en-US" dirty="0">
                <a:solidFill>
                  <a:schemeClr val="tx2">
                    <a:lumMod val="75000"/>
                  </a:schemeClr>
                </a:solidFill>
              </a:rPr>
            </a:br>
            <a:r>
              <a:rPr lang="en-US" dirty="0">
                <a:solidFill>
                  <a:schemeClr val="tx2">
                    <a:lumMod val="75000"/>
                  </a:schemeClr>
                </a:solidFill>
              </a:rPr>
              <a:t>03/01/26</a:t>
            </a:r>
          </a:p>
        </p:txBody>
      </p:sp>
    </p:spTree>
    <p:extLst>
      <p:ext uri="{BB962C8B-B14F-4D97-AF65-F5344CB8AC3E}">
        <p14:creationId xmlns:p14="http://schemas.microsoft.com/office/powerpoint/2010/main" val="80453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59E1FA8-7568-E6E5-FDE0-0B5B1EEAA370}"/>
              </a:ext>
            </a:extLst>
          </p:cNvPr>
          <p:cNvSpPr/>
          <p:nvPr/>
        </p:nvSpPr>
        <p:spPr>
          <a:xfrm>
            <a:off x="457200" y="1426464"/>
            <a:ext cx="5638800" cy="2484354"/>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 name="Rectangle: Rounded Corners 5">
            <a:extLst>
              <a:ext uri="{FF2B5EF4-FFF2-40B4-BE49-F238E27FC236}">
                <a16:creationId xmlns:a16="http://schemas.microsoft.com/office/drawing/2014/main" id="{08196DBE-DD7B-064F-799E-32268D341107}"/>
              </a:ext>
            </a:extLst>
          </p:cNvPr>
          <p:cNvSpPr/>
          <p:nvPr/>
        </p:nvSpPr>
        <p:spPr>
          <a:xfrm>
            <a:off x="6251724" y="4139632"/>
            <a:ext cx="5483074" cy="2444048"/>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A023B4EA-DBEA-A130-3B0F-3D6698F64DD0}"/>
              </a:ext>
            </a:extLst>
          </p:cNvPr>
          <p:cNvSpPr/>
          <p:nvPr/>
        </p:nvSpPr>
        <p:spPr>
          <a:xfrm>
            <a:off x="457200" y="4139632"/>
            <a:ext cx="5638800" cy="2444048"/>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E1132685-D7D5-7D2A-F43F-C8333AD2394C}"/>
              </a:ext>
            </a:extLst>
          </p:cNvPr>
          <p:cNvSpPr/>
          <p:nvPr/>
        </p:nvSpPr>
        <p:spPr>
          <a:xfrm>
            <a:off x="6251726" y="1426464"/>
            <a:ext cx="5483074" cy="2444048"/>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E3852F42-3E8E-A354-2E33-80A0BF62DF3F}"/>
              </a:ext>
            </a:extLst>
          </p:cNvPr>
          <p:cNvSpPr txBox="1"/>
          <p:nvPr/>
        </p:nvSpPr>
        <p:spPr>
          <a:xfrm>
            <a:off x="2052782" y="1511854"/>
            <a:ext cx="2447636" cy="369332"/>
          </a:xfrm>
          <a:prstGeom prst="rect">
            <a:avLst/>
          </a:prstGeom>
          <a:noFill/>
        </p:spPr>
        <p:txBody>
          <a:bodyPr wrap="square" rtlCol="0">
            <a:spAutoFit/>
          </a:bodyPr>
          <a:lstStyle/>
          <a:p>
            <a:pPr algn="ctr"/>
            <a:r>
              <a:rPr lang="en-US" dirty="0">
                <a:solidFill>
                  <a:schemeClr val="bg1"/>
                </a:solidFill>
              </a:rPr>
              <a:t>Product Owner</a:t>
            </a:r>
          </a:p>
        </p:txBody>
      </p:sp>
      <p:sp>
        <p:nvSpPr>
          <p:cNvPr id="10" name="TextBox 9">
            <a:extLst>
              <a:ext uri="{FF2B5EF4-FFF2-40B4-BE49-F238E27FC236}">
                <a16:creationId xmlns:a16="http://schemas.microsoft.com/office/drawing/2014/main" id="{C6781CBB-27F3-9BF1-234B-CD46F4B524C3}"/>
              </a:ext>
            </a:extLst>
          </p:cNvPr>
          <p:cNvSpPr txBox="1"/>
          <p:nvPr/>
        </p:nvSpPr>
        <p:spPr>
          <a:xfrm>
            <a:off x="7700602" y="1511854"/>
            <a:ext cx="2733964" cy="369332"/>
          </a:xfrm>
          <a:prstGeom prst="rect">
            <a:avLst/>
          </a:prstGeom>
          <a:noFill/>
        </p:spPr>
        <p:txBody>
          <a:bodyPr wrap="square" rtlCol="0">
            <a:spAutoFit/>
          </a:bodyPr>
          <a:lstStyle/>
          <a:p>
            <a:pPr algn="ctr"/>
            <a:r>
              <a:rPr lang="en-US" dirty="0">
                <a:solidFill>
                  <a:schemeClr val="bg1"/>
                </a:solidFill>
              </a:rPr>
              <a:t>Scrum Master</a:t>
            </a:r>
          </a:p>
        </p:txBody>
      </p:sp>
      <p:sp>
        <p:nvSpPr>
          <p:cNvPr id="11" name="TextBox 10">
            <a:extLst>
              <a:ext uri="{FF2B5EF4-FFF2-40B4-BE49-F238E27FC236}">
                <a16:creationId xmlns:a16="http://schemas.microsoft.com/office/drawing/2014/main" id="{8A7B5744-7A31-C4F8-880A-6AD7E14D4051}"/>
              </a:ext>
            </a:extLst>
          </p:cNvPr>
          <p:cNvSpPr txBox="1"/>
          <p:nvPr/>
        </p:nvSpPr>
        <p:spPr>
          <a:xfrm>
            <a:off x="1909618" y="4224104"/>
            <a:ext cx="2733964" cy="369332"/>
          </a:xfrm>
          <a:prstGeom prst="rect">
            <a:avLst/>
          </a:prstGeom>
          <a:noFill/>
        </p:spPr>
        <p:txBody>
          <a:bodyPr wrap="square" rtlCol="0">
            <a:spAutoFit/>
          </a:bodyPr>
          <a:lstStyle/>
          <a:p>
            <a:pPr algn="ctr"/>
            <a:r>
              <a:rPr lang="en-US" dirty="0">
                <a:solidFill>
                  <a:schemeClr val="bg1"/>
                </a:solidFill>
              </a:rPr>
              <a:t>Developer</a:t>
            </a:r>
          </a:p>
        </p:txBody>
      </p:sp>
      <p:sp>
        <p:nvSpPr>
          <p:cNvPr id="12" name="TextBox 11">
            <a:extLst>
              <a:ext uri="{FF2B5EF4-FFF2-40B4-BE49-F238E27FC236}">
                <a16:creationId xmlns:a16="http://schemas.microsoft.com/office/drawing/2014/main" id="{5CA19CD0-33BC-F455-B88A-2560A27CDC83}"/>
              </a:ext>
            </a:extLst>
          </p:cNvPr>
          <p:cNvSpPr txBox="1"/>
          <p:nvPr/>
        </p:nvSpPr>
        <p:spPr>
          <a:xfrm>
            <a:off x="7626279" y="4225921"/>
            <a:ext cx="2733964" cy="369332"/>
          </a:xfrm>
          <a:prstGeom prst="rect">
            <a:avLst/>
          </a:prstGeom>
          <a:noFill/>
        </p:spPr>
        <p:txBody>
          <a:bodyPr wrap="square" rtlCol="0">
            <a:spAutoFit/>
          </a:bodyPr>
          <a:lstStyle/>
          <a:p>
            <a:pPr algn="ctr"/>
            <a:r>
              <a:rPr lang="en-US" dirty="0">
                <a:solidFill>
                  <a:schemeClr val="bg1"/>
                </a:solidFill>
              </a:rPr>
              <a:t>Tester</a:t>
            </a:r>
          </a:p>
        </p:txBody>
      </p:sp>
      <p:sp>
        <p:nvSpPr>
          <p:cNvPr id="13" name="Rectangle 12">
            <a:extLst>
              <a:ext uri="{FF2B5EF4-FFF2-40B4-BE49-F238E27FC236}">
                <a16:creationId xmlns:a16="http://schemas.microsoft.com/office/drawing/2014/main" id="{6C316227-D0A2-3DD9-23FD-FDB53A95FE17}"/>
              </a:ext>
            </a:extLst>
          </p:cNvPr>
          <p:cNvSpPr/>
          <p:nvPr/>
        </p:nvSpPr>
        <p:spPr>
          <a:xfrm>
            <a:off x="4189068" y="274320"/>
            <a:ext cx="3813866"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Agile Roles</a:t>
            </a:r>
          </a:p>
        </p:txBody>
      </p:sp>
      <p:sp>
        <p:nvSpPr>
          <p:cNvPr id="16" name="TextBox 15">
            <a:extLst>
              <a:ext uri="{FF2B5EF4-FFF2-40B4-BE49-F238E27FC236}">
                <a16:creationId xmlns:a16="http://schemas.microsoft.com/office/drawing/2014/main" id="{A6EE95F7-EAE0-DB34-C757-35E5B3E36643}"/>
              </a:ext>
            </a:extLst>
          </p:cNvPr>
          <p:cNvSpPr txBox="1"/>
          <p:nvPr/>
        </p:nvSpPr>
        <p:spPr>
          <a:xfrm>
            <a:off x="694943" y="1943128"/>
            <a:ext cx="5168971" cy="1015663"/>
          </a:xfrm>
          <a:prstGeom prst="rect">
            <a:avLst/>
          </a:prstGeom>
          <a:noFill/>
        </p:spPr>
        <p:txBody>
          <a:bodyPr wrap="square" rtlCol="0">
            <a:spAutoFit/>
          </a:bodyPr>
          <a:lstStyle/>
          <a:p>
            <a:r>
              <a:rPr lang="en-US" sz="1200" dirty="0">
                <a:solidFill>
                  <a:schemeClr val="bg1"/>
                </a:solidFill>
              </a:rPr>
              <a:t>They represent the stakeholders and are responsible for the Product Backlog. Without a strong PO, the team risks building features that don't meet market needs (Schwaber &amp; Sutherland, 2020).</a:t>
            </a:r>
            <a:br>
              <a:rPr lang="en-US" sz="1200" dirty="0">
                <a:solidFill>
                  <a:schemeClr val="bg1"/>
                </a:solidFill>
              </a:rPr>
            </a:br>
            <a:endParaRPr lang="en-US" sz="1200" dirty="0">
              <a:solidFill>
                <a:schemeClr val="bg1"/>
              </a:solidFill>
            </a:endParaRPr>
          </a:p>
          <a:p>
            <a:endParaRPr lang="en-US" sz="1200" dirty="0"/>
          </a:p>
        </p:txBody>
      </p:sp>
      <p:sp>
        <p:nvSpPr>
          <p:cNvPr id="17" name="TextBox 16">
            <a:extLst>
              <a:ext uri="{FF2B5EF4-FFF2-40B4-BE49-F238E27FC236}">
                <a16:creationId xmlns:a16="http://schemas.microsoft.com/office/drawing/2014/main" id="{7B245BE6-15D5-A9DA-DACF-DBAF6012E561}"/>
              </a:ext>
            </a:extLst>
          </p:cNvPr>
          <p:cNvSpPr txBox="1"/>
          <p:nvPr/>
        </p:nvSpPr>
        <p:spPr>
          <a:xfrm>
            <a:off x="6593240" y="1881186"/>
            <a:ext cx="4903817" cy="646331"/>
          </a:xfrm>
          <a:prstGeom prst="rect">
            <a:avLst/>
          </a:prstGeom>
          <a:noFill/>
        </p:spPr>
        <p:txBody>
          <a:bodyPr wrap="square" rtlCol="0">
            <a:spAutoFit/>
          </a:bodyPr>
          <a:lstStyle/>
          <a:p>
            <a:r>
              <a:rPr lang="en-US" sz="1200" dirty="0">
                <a:solidFill>
                  <a:schemeClr val="bg1"/>
                </a:solidFill>
              </a:rPr>
              <a:t>The "Servant Leader." They don't manage the people; they manage the process. They remove "impediments" (roadblocks) and coach the team on Scrum theory.</a:t>
            </a:r>
            <a:endParaRPr lang="en-US" sz="1200" dirty="0"/>
          </a:p>
        </p:txBody>
      </p:sp>
      <p:sp>
        <p:nvSpPr>
          <p:cNvPr id="18" name="TextBox 17">
            <a:extLst>
              <a:ext uri="{FF2B5EF4-FFF2-40B4-BE49-F238E27FC236}">
                <a16:creationId xmlns:a16="http://schemas.microsoft.com/office/drawing/2014/main" id="{D0FB7DA1-3B93-1BE3-5780-A3F419C8692A}"/>
              </a:ext>
            </a:extLst>
          </p:cNvPr>
          <p:cNvSpPr txBox="1"/>
          <p:nvPr/>
        </p:nvSpPr>
        <p:spPr>
          <a:xfrm>
            <a:off x="6602954" y="4514870"/>
            <a:ext cx="4780613" cy="646331"/>
          </a:xfrm>
          <a:prstGeom prst="rect">
            <a:avLst/>
          </a:prstGeom>
          <a:noFill/>
        </p:spPr>
        <p:txBody>
          <a:bodyPr wrap="square" rtlCol="0">
            <a:spAutoFit/>
          </a:bodyPr>
          <a:lstStyle/>
          <a:p>
            <a:r>
              <a:rPr lang="en-US" sz="1200" dirty="0">
                <a:solidFill>
                  <a:schemeClr val="bg1"/>
                </a:solidFill>
              </a:rPr>
              <a:t>Often integrated into the "Developer" role in modern Scrum, the specialized focus on Quality Assurance ensures that testing happens during development, not as an afterthought.</a:t>
            </a:r>
            <a:endParaRPr lang="en-US" sz="1200" dirty="0"/>
          </a:p>
        </p:txBody>
      </p:sp>
      <p:sp>
        <p:nvSpPr>
          <p:cNvPr id="19" name="TextBox 18">
            <a:extLst>
              <a:ext uri="{FF2B5EF4-FFF2-40B4-BE49-F238E27FC236}">
                <a16:creationId xmlns:a16="http://schemas.microsoft.com/office/drawing/2014/main" id="{5CA86EBC-57C2-327B-A9C5-DAADE861BF18}"/>
              </a:ext>
            </a:extLst>
          </p:cNvPr>
          <p:cNvSpPr txBox="1"/>
          <p:nvPr/>
        </p:nvSpPr>
        <p:spPr>
          <a:xfrm>
            <a:off x="770591" y="4581367"/>
            <a:ext cx="5093323" cy="646331"/>
          </a:xfrm>
          <a:prstGeom prst="rect">
            <a:avLst/>
          </a:prstGeom>
          <a:noFill/>
        </p:spPr>
        <p:txBody>
          <a:bodyPr wrap="square" rtlCol="0">
            <a:spAutoFit/>
          </a:bodyPr>
          <a:lstStyle/>
          <a:p>
            <a:r>
              <a:rPr lang="en-US" sz="1200" dirty="0">
                <a:solidFill>
                  <a:schemeClr val="bg1"/>
                </a:solidFill>
              </a:rPr>
              <a:t>The builders who create the code. This cross-functional group is responsible for turning backlog items into a "Done" increment of product.</a:t>
            </a:r>
            <a:endParaRPr lang="en-US" sz="1200" dirty="0"/>
          </a:p>
        </p:txBody>
      </p:sp>
      <p:sp>
        <p:nvSpPr>
          <p:cNvPr id="3" name="TextBox 2">
            <a:extLst>
              <a:ext uri="{FF2B5EF4-FFF2-40B4-BE49-F238E27FC236}">
                <a16:creationId xmlns:a16="http://schemas.microsoft.com/office/drawing/2014/main" id="{8387D686-4FE6-9628-ABD7-2BCB107A3047}"/>
              </a:ext>
            </a:extLst>
          </p:cNvPr>
          <p:cNvSpPr txBox="1"/>
          <p:nvPr/>
        </p:nvSpPr>
        <p:spPr>
          <a:xfrm>
            <a:off x="559181" y="2634993"/>
            <a:ext cx="5434838" cy="1015663"/>
          </a:xfrm>
          <a:prstGeom prst="rect">
            <a:avLst/>
          </a:prstGeom>
          <a:noFill/>
        </p:spPr>
        <p:txBody>
          <a:bodyPr wrap="square" rtlCol="0">
            <a:spAutoFit/>
          </a:bodyPr>
          <a:lstStyle/>
          <a:p>
            <a:r>
              <a:rPr lang="en-US" sz="1000" b="1" dirty="0">
                <a:solidFill>
                  <a:schemeClr val="bg1"/>
                </a:solidFill>
              </a:rPr>
              <a:t>Key Responsibilities</a:t>
            </a:r>
            <a:r>
              <a:rPr lang="en-US" sz="1000" dirty="0">
                <a:solidFill>
                  <a:schemeClr val="bg1"/>
                </a:solidFill>
              </a:rPr>
              <a:t>:</a:t>
            </a:r>
            <a:br>
              <a:rPr lang="en-US" sz="1000" dirty="0">
                <a:solidFill>
                  <a:schemeClr val="bg1"/>
                </a:solidFill>
              </a:rPr>
            </a:br>
            <a:r>
              <a:rPr lang="en-US" sz="1000" u="sng" dirty="0">
                <a:solidFill>
                  <a:schemeClr val="bg1"/>
                </a:solidFill>
              </a:rPr>
              <a:t>Backlog Management</a:t>
            </a:r>
            <a:r>
              <a:rPr lang="en-US" sz="1000" dirty="0">
                <a:solidFill>
                  <a:schemeClr val="bg1"/>
                </a:solidFill>
              </a:rPr>
              <a:t>: Creating and clearly communicating Product Backlog items.</a:t>
            </a:r>
            <a:br>
              <a:rPr lang="en-US" sz="1000" dirty="0">
                <a:solidFill>
                  <a:schemeClr val="bg1"/>
                </a:solidFill>
              </a:rPr>
            </a:br>
            <a:r>
              <a:rPr lang="en-US" sz="1000" u="sng" dirty="0">
                <a:solidFill>
                  <a:schemeClr val="bg1"/>
                </a:solidFill>
              </a:rPr>
              <a:t>Prioritization</a:t>
            </a:r>
            <a:r>
              <a:rPr lang="en-US" sz="1000" dirty="0">
                <a:solidFill>
                  <a:schemeClr val="bg1"/>
                </a:solidFill>
              </a:rPr>
              <a:t>: Deciding which features are "must-haves" vs "nice-to-haves".</a:t>
            </a:r>
            <a:br>
              <a:rPr lang="en-US" sz="1000" dirty="0">
                <a:solidFill>
                  <a:schemeClr val="bg1"/>
                </a:solidFill>
              </a:rPr>
            </a:br>
            <a:r>
              <a:rPr lang="en-US" sz="1000" u="sng" dirty="0">
                <a:solidFill>
                  <a:schemeClr val="bg1"/>
                </a:solidFill>
              </a:rPr>
              <a:t>Stakeholder Alignment</a:t>
            </a:r>
            <a:r>
              <a:rPr lang="en-US" sz="1000" dirty="0">
                <a:solidFill>
                  <a:schemeClr val="bg1"/>
                </a:solidFill>
              </a:rPr>
              <a:t>: Managing expectations and gathering requirements from the business side.</a:t>
            </a:r>
          </a:p>
          <a:p>
            <a:endParaRPr lang="en-US" sz="1000" dirty="0"/>
          </a:p>
        </p:txBody>
      </p:sp>
      <p:sp>
        <p:nvSpPr>
          <p:cNvPr id="4" name="TextBox 3">
            <a:extLst>
              <a:ext uri="{FF2B5EF4-FFF2-40B4-BE49-F238E27FC236}">
                <a16:creationId xmlns:a16="http://schemas.microsoft.com/office/drawing/2014/main" id="{1831D438-63C5-3327-3164-9B64DE239C1A}"/>
              </a:ext>
            </a:extLst>
          </p:cNvPr>
          <p:cNvSpPr txBox="1"/>
          <p:nvPr/>
        </p:nvSpPr>
        <p:spPr>
          <a:xfrm>
            <a:off x="559181" y="5352591"/>
            <a:ext cx="5434838" cy="707886"/>
          </a:xfrm>
          <a:prstGeom prst="rect">
            <a:avLst/>
          </a:prstGeom>
          <a:noFill/>
        </p:spPr>
        <p:txBody>
          <a:bodyPr wrap="square" rtlCol="0">
            <a:spAutoFit/>
          </a:bodyPr>
          <a:lstStyle/>
          <a:p>
            <a:r>
              <a:rPr lang="en-US" sz="1000" b="1" dirty="0">
                <a:solidFill>
                  <a:schemeClr val="bg1"/>
                </a:solidFill>
              </a:rPr>
              <a:t>Key Responsibilities</a:t>
            </a:r>
            <a:r>
              <a:rPr lang="en-US" sz="1000" dirty="0">
                <a:solidFill>
                  <a:schemeClr val="bg1"/>
                </a:solidFill>
              </a:rPr>
              <a:t>:</a:t>
            </a:r>
            <a:br>
              <a:rPr lang="en-US" sz="1000" dirty="0">
                <a:solidFill>
                  <a:schemeClr val="bg1"/>
                </a:solidFill>
              </a:rPr>
            </a:br>
            <a:r>
              <a:rPr lang="en-US" sz="1000" u="sng" dirty="0">
                <a:solidFill>
                  <a:schemeClr val="bg1"/>
                </a:solidFill>
              </a:rPr>
              <a:t>Sprint Execution</a:t>
            </a:r>
            <a:r>
              <a:rPr lang="en-US" sz="1000" dirty="0">
                <a:solidFill>
                  <a:schemeClr val="bg1"/>
                </a:solidFill>
              </a:rPr>
              <a:t>: Writing code, designing interfaces, and building the actual product.</a:t>
            </a:r>
            <a:br>
              <a:rPr lang="en-US" sz="1000" dirty="0">
                <a:solidFill>
                  <a:schemeClr val="bg1"/>
                </a:solidFill>
              </a:rPr>
            </a:br>
            <a:r>
              <a:rPr lang="en-US" sz="1000" u="sng" dirty="0">
                <a:solidFill>
                  <a:schemeClr val="bg1"/>
                </a:solidFill>
              </a:rPr>
              <a:t>Self-Management</a:t>
            </a:r>
            <a:r>
              <a:rPr lang="en-US" sz="1000" dirty="0">
                <a:solidFill>
                  <a:schemeClr val="bg1"/>
                </a:solidFill>
              </a:rPr>
              <a:t>: Deciding how to organize their own work to meet the Sprint Goal.</a:t>
            </a:r>
            <a:br>
              <a:rPr lang="en-US" sz="1000" dirty="0">
                <a:solidFill>
                  <a:schemeClr val="bg1"/>
                </a:solidFill>
              </a:rPr>
            </a:br>
            <a:r>
              <a:rPr lang="en-US" sz="1000" u="sng" dirty="0">
                <a:solidFill>
                  <a:schemeClr val="bg1"/>
                </a:solidFill>
              </a:rPr>
              <a:t>Quality Ownership</a:t>
            </a:r>
            <a:r>
              <a:rPr lang="en-US" sz="1000" dirty="0">
                <a:solidFill>
                  <a:schemeClr val="bg1"/>
                </a:solidFill>
              </a:rPr>
              <a:t>: Ensuring the work meets the "Definition of Done" (DoD).</a:t>
            </a:r>
            <a:endParaRPr lang="en-US" sz="1000" dirty="0"/>
          </a:p>
        </p:txBody>
      </p:sp>
      <p:sp>
        <p:nvSpPr>
          <p:cNvPr id="5" name="TextBox 4">
            <a:extLst>
              <a:ext uri="{FF2B5EF4-FFF2-40B4-BE49-F238E27FC236}">
                <a16:creationId xmlns:a16="http://schemas.microsoft.com/office/drawing/2014/main" id="{F29C9F24-FBE4-C714-4F64-2A778079BED8}"/>
              </a:ext>
            </a:extLst>
          </p:cNvPr>
          <p:cNvSpPr txBox="1"/>
          <p:nvPr/>
        </p:nvSpPr>
        <p:spPr>
          <a:xfrm>
            <a:off x="6350165" y="5352591"/>
            <a:ext cx="5434838" cy="861774"/>
          </a:xfrm>
          <a:prstGeom prst="rect">
            <a:avLst/>
          </a:prstGeom>
          <a:noFill/>
        </p:spPr>
        <p:txBody>
          <a:bodyPr wrap="square" rtlCol="0">
            <a:spAutoFit/>
          </a:bodyPr>
          <a:lstStyle/>
          <a:p>
            <a:r>
              <a:rPr lang="en-US" sz="1000" b="1" dirty="0">
                <a:solidFill>
                  <a:schemeClr val="bg1"/>
                </a:solidFill>
              </a:rPr>
              <a:t>Key Responsibilities</a:t>
            </a:r>
            <a:r>
              <a:rPr lang="en-US" sz="1000" dirty="0">
                <a:solidFill>
                  <a:schemeClr val="bg1"/>
                </a:solidFill>
              </a:rPr>
              <a:t>:</a:t>
            </a:r>
          </a:p>
          <a:p>
            <a:r>
              <a:rPr lang="en-US" sz="1000" u="sng" dirty="0">
                <a:solidFill>
                  <a:schemeClr val="bg1"/>
                </a:solidFill>
              </a:rPr>
              <a:t>Test Automation</a:t>
            </a:r>
            <a:r>
              <a:rPr lang="en-US" sz="1000" dirty="0">
                <a:solidFill>
                  <a:schemeClr val="bg1"/>
                </a:solidFill>
              </a:rPr>
              <a:t>: Creating scripts to verify functionality quickly.</a:t>
            </a:r>
          </a:p>
          <a:p>
            <a:r>
              <a:rPr lang="en-US" sz="1000" u="sng" dirty="0">
                <a:solidFill>
                  <a:schemeClr val="bg1"/>
                </a:solidFill>
              </a:rPr>
              <a:t>Exploratory Testing</a:t>
            </a:r>
            <a:r>
              <a:rPr lang="en-US" sz="1000" dirty="0">
                <a:solidFill>
                  <a:schemeClr val="bg1"/>
                </a:solidFill>
              </a:rPr>
              <a:t>: “Break" the product in ways the PO may not have considered.</a:t>
            </a:r>
          </a:p>
          <a:p>
            <a:r>
              <a:rPr lang="en-US" sz="1000" u="sng" dirty="0">
                <a:solidFill>
                  <a:schemeClr val="bg1"/>
                </a:solidFill>
              </a:rPr>
              <a:t>Feedback Loop</a:t>
            </a:r>
            <a:r>
              <a:rPr lang="en-US" sz="1000" dirty="0">
                <a:solidFill>
                  <a:schemeClr val="bg1"/>
                </a:solidFill>
              </a:rPr>
              <a:t>: Providing immediate data to Developers on bugs or usability issues before the Sprint ends.</a:t>
            </a:r>
            <a:endParaRPr lang="en-US" sz="1000" dirty="0"/>
          </a:p>
        </p:txBody>
      </p:sp>
      <p:sp>
        <p:nvSpPr>
          <p:cNvPr id="14" name="TextBox 13">
            <a:extLst>
              <a:ext uri="{FF2B5EF4-FFF2-40B4-BE49-F238E27FC236}">
                <a16:creationId xmlns:a16="http://schemas.microsoft.com/office/drawing/2014/main" id="{8DD7C07D-AB21-5541-5C22-861650E902C2}"/>
              </a:ext>
            </a:extLst>
          </p:cNvPr>
          <p:cNvSpPr txBox="1"/>
          <p:nvPr/>
        </p:nvSpPr>
        <p:spPr>
          <a:xfrm>
            <a:off x="6275841" y="2604848"/>
            <a:ext cx="5434838" cy="1015663"/>
          </a:xfrm>
          <a:prstGeom prst="rect">
            <a:avLst/>
          </a:prstGeom>
          <a:noFill/>
        </p:spPr>
        <p:txBody>
          <a:bodyPr wrap="square" rtlCol="0">
            <a:spAutoFit/>
          </a:bodyPr>
          <a:lstStyle/>
          <a:p>
            <a:r>
              <a:rPr lang="en-US" sz="1000" b="1" dirty="0">
                <a:solidFill>
                  <a:schemeClr val="bg1"/>
                </a:solidFill>
              </a:rPr>
              <a:t>Key Responsibilities</a:t>
            </a:r>
            <a:r>
              <a:rPr lang="en-US" sz="1000" dirty="0">
                <a:solidFill>
                  <a:schemeClr val="bg1"/>
                </a:solidFill>
              </a:rPr>
              <a:t>:</a:t>
            </a:r>
          </a:p>
          <a:p>
            <a:r>
              <a:rPr lang="en-US" sz="1000" u="sng" dirty="0">
                <a:solidFill>
                  <a:schemeClr val="bg1"/>
                </a:solidFill>
              </a:rPr>
              <a:t>Removing Impediments</a:t>
            </a:r>
            <a:r>
              <a:rPr lang="en-US" sz="1000" dirty="0">
                <a:solidFill>
                  <a:schemeClr val="bg1"/>
                </a:solidFill>
              </a:rPr>
              <a:t>: "Clearing the path" by fixing issues that slow the team down (e.g., a broken tool or a distracting meeting).</a:t>
            </a:r>
          </a:p>
          <a:p>
            <a:r>
              <a:rPr lang="en-US" sz="1000" u="sng" dirty="0">
                <a:solidFill>
                  <a:schemeClr val="bg1"/>
                </a:solidFill>
              </a:rPr>
              <a:t>Facilitation</a:t>
            </a:r>
            <a:r>
              <a:rPr lang="en-US" sz="1000" dirty="0">
                <a:solidFill>
                  <a:schemeClr val="bg1"/>
                </a:solidFill>
              </a:rPr>
              <a:t>: Leading the Daily Stand-up, Sprint Planning, and Retrospectives.</a:t>
            </a:r>
          </a:p>
          <a:p>
            <a:r>
              <a:rPr lang="en-US" sz="1000" u="sng" dirty="0">
                <a:solidFill>
                  <a:schemeClr val="bg1"/>
                </a:solidFill>
              </a:rPr>
              <a:t>Shielding the Team</a:t>
            </a:r>
            <a:r>
              <a:rPr lang="en-US" sz="1000" dirty="0">
                <a:solidFill>
                  <a:schemeClr val="bg1"/>
                </a:solidFill>
              </a:rPr>
              <a:t>: Protecting the developers from outside interference or "scope creep" during a sprint.</a:t>
            </a:r>
            <a:endParaRPr lang="en-US" sz="1000" dirty="0"/>
          </a:p>
        </p:txBody>
      </p:sp>
    </p:spTree>
    <p:extLst>
      <p:ext uri="{BB962C8B-B14F-4D97-AF65-F5344CB8AC3E}">
        <p14:creationId xmlns:p14="http://schemas.microsoft.com/office/powerpoint/2010/main" val="1169918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F48BA2E-B430-46DA-7C28-F37B18116A67}"/>
              </a:ext>
            </a:extLst>
          </p:cNvPr>
          <p:cNvPicPr>
            <a:picLocks noChangeAspect="1"/>
          </p:cNvPicPr>
          <p:nvPr/>
        </p:nvPicPr>
        <p:blipFill>
          <a:blip r:embed="rId3"/>
          <a:stretch>
            <a:fillRect/>
          </a:stretch>
        </p:blipFill>
        <p:spPr>
          <a:xfrm>
            <a:off x="6336631" y="1664299"/>
            <a:ext cx="5579254" cy="4185138"/>
          </a:xfrm>
          <a:prstGeom prst="rect">
            <a:avLst/>
          </a:prstGeom>
        </p:spPr>
      </p:pic>
      <p:sp>
        <p:nvSpPr>
          <p:cNvPr id="3" name="TextBox 2">
            <a:extLst>
              <a:ext uri="{FF2B5EF4-FFF2-40B4-BE49-F238E27FC236}">
                <a16:creationId xmlns:a16="http://schemas.microsoft.com/office/drawing/2014/main" id="{3547A8F0-FA75-7D34-B7EC-0A402E9AD419}"/>
              </a:ext>
            </a:extLst>
          </p:cNvPr>
          <p:cNvSpPr txBox="1"/>
          <p:nvPr/>
        </p:nvSpPr>
        <p:spPr>
          <a:xfrm>
            <a:off x="276115" y="1371600"/>
            <a:ext cx="5819885" cy="4770537"/>
          </a:xfrm>
          <a:prstGeom prst="rect">
            <a:avLst/>
          </a:prstGeom>
          <a:noFill/>
        </p:spPr>
        <p:txBody>
          <a:bodyPr wrap="square" rtlCol="0">
            <a:spAutoFit/>
          </a:bodyPr>
          <a:lstStyle/>
          <a:p>
            <a:r>
              <a:rPr lang="en-US" dirty="0">
                <a:latin typeface="Everyday Sans Medium" pitchFamily="2" charset="0"/>
              </a:rPr>
              <a:t>	The Agile Software Development Life Cycle (SDLC) is a repetitive, iterative process. Unlike the traditional "Waterfall" method where you finish one giant phase before starting the next, Agile breaks the project into small chunks called Sprints (usually 1–4 weeks). allowing you to pivot based on feedback. Think of it as a loop rather than a straight line. Here are the core phases:</a:t>
            </a:r>
            <a:br>
              <a:rPr lang="en-US" dirty="0">
                <a:solidFill>
                  <a:schemeClr val="bg1"/>
                </a:solidFill>
                <a:latin typeface="Everyday Sans Medium" pitchFamily="2" charset="0"/>
              </a:rPr>
            </a:br>
            <a:endParaRPr lang="en-US" dirty="0">
              <a:solidFill>
                <a:schemeClr val="bg1"/>
              </a:solidFill>
              <a:latin typeface="Everyday Sans Medium" pitchFamily="2" charset="0"/>
            </a:endParaRPr>
          </a:p>
          <a:p>
            <a:pPr marL="342900" indent="-342900">
              <a:buFont typeface="+mj-lt"/>
              <a:buAutoNum type="arabicPeriod"/>
            </a:pPr>
            <a:r>
              <a:rPr lang="en-US" sz="1600" b="1" dirty="0">
                <a:latin typeface="Everyday Sans Medium" pitchFamily="2" charset="0"/>
              </a:rPr>
              <a:t>Concept/Inception: </a:t>
            </a:r>
            <a:r>
              <a:rPr lang="en-US" sz="1600" dirty="0">
                <a:latin typeface="Everyday Sans Medium" pitchFamily="2" charset="0"/>
              </a:rPr>
              <a:t>High-level visioning and backlog creation.</a:t>
            </a:r>
          </a:p>
          <a:p>
            <a:pPr marL="342900" indent="-342900">
              <a:buFont typeface="+mj-lt"/>
              <a:buAutoNum type="arabicPeriod"/>
            </a:pPr>
            <a:r>
              <a:rPr lang="en-US" sz="1600" b="1" dirty="0">
                <a:latin typeface="Everyday Sans Medium" pitchFamily="2" charset="0"/>
              </a:rPr>
              <a:t>Requirements/Refinement</a:t>
            </a:r>
            <a:r>
              <a:rPr lang="en-US" sz="1600" dirty="0">
                <a:latin typeface="Everyday Sans Medium" pitchFamily="2" charset="0"/>
              </a:rPr>
              <a:t>: Breaking down "User Stories" so they are ready for development.</a:t>
            </a:r>
          </a:p>
          <a:p>
            <a:pPr marL="342900" indent="-342900">
              <a:buFont typeface="+mj-lt"/>
              <a:buAutoNum type="arabicPeriod"/>
            </a:pPr>
            <a:r>
              <a:rPr lang="en-US" sz="1600" b="1" dirty="0">
                <a:latin typeface="Everyday Sans Medium" pitchFamily="2" charset="0"/>
              </a:rPr>
              <a:t>Iterative Development</a:t>
            </a:r>
            <a:r>
              <a:rPr lang="en-US" sz="1600" dirty="0">
                <a:latin typeface="Everyday Sans Medium" pitchFamily="2" charset="0"/>
              </a:rPr>
              <a:t>: The actual coding and building of the increment. </a:t>
            </a:r>
          </a:p>
          <a:p>
            <a:pPr marL="342900" indent="-342900">
              <a:buFont typeface="+mj-lt"/>
              <a:buAutoNum type="arabicPeriod"/>
            </a:pPr>
            <a:r>
              <a:rPr lang="en-US" sz="1600" b="1" dirty="0">
                <a:latin typeface="Everyday Sans Medium" pitchFamily="2" charset="0"/>
              </a:rPr>
              <a:t>Testing/Quality Assurance</a:t>
            </a:r>
            <a:r>
              <a:rPr lang="en-US" sz="1600" dirty="0">
                <a:latin typeface="Everyday Sans Medium" pitchFamily="2" charset="0"/>
              </a:rPr>
              <a:t>: Continuous testing happens during development, not at the end, ensuring "Definition of Done" is met.</a:t>
            </a:r>
          </a:p>
          <a:p>
            <a:pPr marL="342900" indent="-342900">
              <a:buFont typeface="+mj-lt"/>
              <a:buAutoNum type="arabicPeriod"/>
            </a:pPr>
            <a:r>
              <a:rPr lang="en-US" sz="1600" b="1" dirty="0">
                <a:latin typeface="Everyday Sans Medium" pitchFamily="2" charset="0"/>
              </a:rPr>
              <a:t>Release/Deployment</a:t>
            </a:r>
            <a:r>
              <a:rPr lang="en-US" sz="1600" dirty="0">
                <a:latin typeface="Everyday Sans Medium" pitchFamily="2" charset="0"/>
              </a:rPr>
              <a:t>: Delivering the increment to a production-like environment for feedback (Rigby et al., 2020).</a:t>
            </a:r>
          </a:p>
        </p:txBody>
      </p:sp>
      <p:sp>
        <p:nvSpPr>
          <p:cNvPr id="4" name="Rectangle 3">
            <a:extLst>
              <a:ext uri="{FF2B5EF4-FFF2-40B4-BE49-F238E27FC236}">
                <a16:creationId xmlns:a16="http://schemas.microsoft.com/office/drawing/2014/main" id="{6CBD49E2-ED63-CD93-79B8-1D9AF78D34EE}"/>
              </a:ext>
            </a:extLst>
          </p:cNvPr>
          <p:cNvSpPr/>
          <p:nvPr/>
        </p:nvSpPr>
        <p:spPr>
          <a:xfrm>
            <a:off x="3907743" y="274320"/>
            <a:ext cx="4376519"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Agile Phases</a:t>
            </a:r>
          </a:p>
        </p:txBody>
      </p:sp>
    </p:spTree>
    <p:extLst>
      <p:ext uri="{BB962C8B-B14F-4D97-AF65-F5344CB8AC3E}">
        <p14:creationId xmlns:p14="http://schemas.microsoft.com/office/powerpoint/2010/main" val="2116700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A32A4FB-21EA-3E93-8816-2AF6E37CDBC5}"/>
              </a:ext>
            </a:extLst>
          </p:cNvPr>
          <p:cNvSpPr/>
          <p:nvPr/>
        </p:nvSpPr>
        <p:spPr>
          <a:xfrm>
            <a:off x="3133489" y="302455"/>
            <a:ext cx="5925020"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Waterfall vs Agile</a:t>
            </a:r>
          </a:p>
        </p:txBody>
      </p:sp>
      <p:pic>
        <p:nvPicPr>
          <p:cNvPr id="4" name="Picture 3">
            <a:extLst>
              <a:ext uri="{FF2B5EF4-FFF2-40B4-BE49-F238E27FC236}">
                <a16:creationId xmlns:a16="http://schemas.microsoft.com/office/drawing/2014/main" id="{6168CB0B-EB74-A1DE-FAE7-72BD26C07954}"/>
              </a:ext>
            </a:extLst>
          </p:cNvPr>
          <p:cNvPicPr>
            <a:picLocks noChangeAspect="1"/>
          </p:cNvPicPr>
          <p:nvPr/>
        </p:nvPicPr>
        <p:blipFill>
          <a:blip r:embed="rId3"/>
          <a:stretch>
            <a:fillRect/>
          </a:stretch>
        </p:blipFill>
        <p:spPr>
          <a:xfrm>
            <a:off x="9416644" y="302455"/>
            <a:ext cx="1166949" cy="1166949"/>
          </a:xfrm>
          <a:prstGeom prst="rect">
            <a:avLst/>
          </a:prstGeom>
        </p:spPr>
      </p:pic>
      <p:pic>
        <p:nvPicPr>
          <p:cNvPr id="5" name="Picture 4">
            <a:extLst>
              <a:ext uri="{FF2B5EF4-FFF2-40B4-BE49-F238E27FC236}">
                <a16:creationId xmlns:a16="http://schemas.microsoft.com/office/drawing/2014/main" id="{1AE054FF-69EE-7383-8CB0-4A9719508B44}"/>
              </a:ext>
            </a:extLst>
          </p:cNvPr>
          <p:cNvPicPr>
            <a:picLocks noChangeAspect="1"/>
          </p:cNvPicPr>
          <p:nvPr/>
        </p:nvPicPr>
        <p:blipFill>
          <a:blip r:embed="rId4"/>
          <a:stretch>
            <a:fillRect/>
          </a:stretch>
        </p:blipFill>
        <p:spPr>
          <a:xfrm>
            <a:off x="1608405" y="302455"/>
            <a:ext cx="1166949" cy="1166949"/>
          </a:xfrm>
          <a:prstGeom prst="rect">
            <a:avLst/>
          </a:prstGeom>
        </p:spPr>
      </p:pic>
      <p:sp>
        <p:nvSpPr>
          <p:cNvPr id="6" name="TextBox 5">
            <a:extLst>
              <a:ext uri="{FF2B5EF4-FFF2-40B4-BE49-F238E27FC236}">
                <a16:creationId xmlns:a16="http://schemas.microsoft.com/office/drawing/2014/main" id="{AA082C33-9CC3-3F68-9127-2EED1C52AEBE}"/>
              </a:ext>
            </a:extLst>
          </p:cNvPr>
          <p:cNvSpPr txBox="1"/>
          <p:nvPr/>
        </p:nvSpPr>
        <p:spPr>
          <a:xfrm>
            <a:off x="1608406" y="1692566"/>
            <a:ext cx="8975187" cy="4524315"/>
          </a:xfrm>
          <a:prstGeom prst="rect">
            <a:avLst/>
          </a:prstGeom>
          <a:noFill/>
        </p:spPr>
        <p:txBody>
          <a:bodyPr wrap="square" rtlCol="0">
            <a:spAutoFit/>
          </a:bodyPr>
          <a:lstStyle/>
          <a:p>
            <a:r>
              <a:rPr lang="en-US" dirty="0">
                <a:latin typeface="Everyday Sans Medium" pitchFamily="2" charset="0"/>
              </a:rPr>
              <a:t>	The primary difference between the Waterfall and Agile methods is flexibility versus sequence. In a Waterfall approach, a project moves like a relay race: one phase must finish before the next begins. </a:t>
            </a:r>
            <a:r>
              <a:rPr lang="en-US" dirty="0">
                <a:latin typeface="Everyday Sans Medium"/>
              </a:rPr>
              <a:t>All requirements are gathered and documented in a massive Software Requirement Specification (SRS) at the very beginning. Changing a requirement later usually requires a formal request and can be very expensive. </a:t>
            </a:r>
            <a:r>
              <a:rPr lang="en-US" b="1" dirty="0">
                <a:latin typeface="Everyday Sans Medium" pitchFamily="2" charset="0"/>
              </a:rPr>
              <a:t>The </a:t>
            </a:r>
            <a:r>
              <a:rPr lang="en-US" dirty="0">
                <a:latin typeface="Everyday Sans Medium" pitchFamily="2" charset="0"/>
              </a:rPr>
              <a:t>Waterfall method prioritizes a "Fixed Scope" where plans are set early, while Agile prioritizes "Fixed Time/Cost" (iterations are set, but the scope can evolve based on learning) (West, 2021).</a:t>
            </a:r>
          </a:p>
          <a:p>
            <a:endParaRPr lang="en-US" dirty="0">
              <a:latin typeface="Everyday Sans Medium" pitchFamily="2" charset="0"/>
            </a:endParaRPr>
          </a:p>
          <a:p>
            <a:r>
              <a:rPr lang="en-US" dirty="0">
                <a:latin typeface="Everyday Sans Medium" pitchFamily="2" charset="0"/>
              </a:rPr>
              <a:t>	Imagine a bug is found in the final testing phase. In Waterfall, this could require restarting the entire design phase, leading to massive delays and sunk costs. Because testing is integrated into every Sprint, the Agile Scrum team would have identified the issue within days. During the SNHU Travel project, the client required us to pivot to detox- and wellness-focused travel. Using the Agile development method, we were able to quickly implement this change while remaining on schedule. If we had been further along in development using the Waterfall method, it could set the project back multiple phases</a:t>
            </a:r>
          </a:p>
          <a:p>
            <a:endParaRPr lang="en-US" dirty="0">
              <a:latin typeface="Everyday Sans Medium" pitchFamily="2" charset="0"/>
            </a:endParaRPr>
          </a:p>
        </p:txBody>
      </p:sp>
    </p:spTree>
    <p:extLst>
      <p:ext uri="{BB962C8B-B14F-4D97-AF65-F5344CB8AC3E}">
        <p14:creationId xmlns:p14="http://schemas.microsoft.com/office/powerpoint/2010/main" val="1754511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F325F3E-BEA3-A3FE-4261-4920D320196D}"/>
              </a:ext>
            </a:extLst>
          </p:cNvPr>
          <p:cNvSpPr/>
          <p:nvPr/>
        </p:nvSpPr>
        <p:spPr>
          <a:xfrm>
            <a:off x="2710858" y="330591"/>
            <a:ext cx="6789039"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Choosing Your Path</a:t>
            </a:r>
          </a:p>
        </p:txBody>
      </p:sp>
      <p:sp>
        <p:nvSpPr>
          <p:cNvPr id="5" name="TextBox 4">
            <a:extLst>
              <a:ext uri="{FF2B5EF4-FFF2-40B4-BE49-F238E27FC236}">
                <a16:creationId xmlns:a16="http://schemas.microsoft.com/office/drawing/2014/main" id="{2822B4AA-D13F-FD4C-1ACE-B2A5F0B78676}"/>
              </a:ext>
            </a:extLst>
          </p:cNvPr>
          <p:cNvSpPr txBox="1"/>
          <p:nvPr/>
        </p:nvSpPr>
        <p:spPr>
          <a:xfrm>
            <a:off x="1814732" y="1772528"/>
            <a:ext cx="8581293" cy="3693319"/>
          </a:xfrm>
          <a:prstGeom prst="rect">
            <a:avLst/>
          </a:prstGeom>
          <a:noFill/>
        </p:spPr>
        <p:txBody>
          <a:bodyPr wrap="square" rtlCol="0">
            <a:spAutoFit/>
          </a:bodyPr>
          <a:lstStyle/>
          <a:p>
            <a:r>
              <a:rPr lang="en-US" dirty="0">
                <a:latin typeface="Everyday Sans Medium" pitchFamily="2" charset="0"/>
              </a:rPr>
              <a:t>Deciding between the two depends on project certainty. Based on industry standards and development experience, consider these three factors:</a:t>
            </a:r>
            <a:br>
              <a:rPr lang="en-US" dirty="0">
                <a:latin typeface="Everyday Sans Medium" pitchFamily="2" charset="0"/>
              </a:rPr>
            </a:br>
            <a:endParaRPr lang="en-US" dirty="0">
              <a:latin typeface="Everyday Sans Medium" pitchFamily="2" charset="0"/>
            </a:endParaRPr>
          </a:p>
          <a:p>
            <a:pPr marL="285750" indent="-285750">
              <a:buFont typeface="Arial" panose="020B0604020202020204" pitchFamily="34" charset="0"/>
              <a:buChar char="•"/>
            </a:pPr>
            <a:r>
              <a:rPr lang="en-US" b="1" u="sng" dirty="0">
                <a:latin typeface="Everyday Sans Medium" pitchFamily="2" charset="0"/>
              </a:rPr>
              <a:t>Requirements Clarity</a:t>
            </a:r>
            <a:r>
              <a:rPr lang="en-US" u="sng" dirty="0">
                <a:latin typeface="Everyday Sans Medium" pitchFamily="2" charset="0"/>
              </a:rPr>
              <a:t>: </a:t>
            </a:r>
            <a:r>
              <a:rPr lang="en-US" dirty="0">
                <a:latin typeface="Everyday Sans Medium" pitchFamily="2" charset="0"/>
              </a:rPr>
              <a:t>If the goal is 100% known (e.g., a simple hardware upgrade), Waterfall is efficient. If the goal is a "disruptive" new app, Agile is safer.</a:t>
            </a:r>
          </a:p>
          <a:p>
            <a:pPr marL="285750" indent="-285750">
              <a:buFont typeface="Arial" panose="020B0604020202020204" pitchFamily="34" charset="0"/>
              <a:buChar char="•"/>
            </a:pPr>
            <a:endParaRPr lang="en-US" dirty="0">
              <a:latin typeface="Everyday Sans Medium" pitchFamily="2" charset="0"/>
            </a:endParaRPr>
          </a:p>
          <a:p>
            <a:pPr marL="285750" indent="-285750">
              <a:buFont typeface="Arial" panose="020B0604020202020204" pitchFamily="34" charset="0"/>
              <a:buChar char="•"/>
            </a:pPr>
            <a:r>
              <a:rPr lang="en-US" b="1" u="sng" dirty="0">
                <a:latin typeface="Everyday Sans Medium" pitchFamily="2" charset="0"/>
              </a:rPr>
              <a:t>Stakeholder Involvement</a:t>
            </a:r>
            <a:r>
              <a:rPr lang="en-US" u="sng" dirty="0">
                <a:latin typeface="Everyday Sans Medium" pitchFamily="2" charset="0"/>
              </a:rPr>
              <a:t>: </a:t>
            </a:r>
            <a:r>
              <a:rPr lang="en-US" dirty="0">
                <a:latin typeface="Everyday Sans Medium" pitchFamily="2" charset="0"/>
              </a:rPr>
              <a:t>Agile requires frequent "check-ins." If stakeholders are too busy to meet bi-weekly, an Agile project will stall.</a:t>
            </a:r>
          </a:p>
          <a:p>
            <a:pPr marL="285750" indent="-285750">
              <a:buFont typeface="Arial" panose="020B0604020202020204" pitchFamily="34" charset="0"/>
              <a:buChar char="•"/>
            </a:pPr>
            <a:endParaRPr lang="en-US" dirty="0">
              <a:latin typeface="Everyday Sans Medium" pitchFamily="2" charset="0"/>
            </a:endParaRPr>
          </a:p>
          <a:p>
            <a:pPr marL="285750" indent="-285750">
              <a:buFont typeface="Arial" panose="020B0604020202020204" pitchFamily="34" charset="0"/>
              <a:buChar char="•"/>
            </a:pPr>
            <a:r>
              <a:rPr lang="en-US" b="1" u="sng" dirty="0">
                <a:latin typeface="Everyday Sans Medium" pitchFamily="2" charset="0"/>
              </a:rPr>
              <a:t>Regulatory Environment</a:t>
            </a:r>
            <a:r>
              <a:rPr lang="en-US" u="sng" dirty="0">
                <a:latin typeface="Everyday Sans Medium" pitchFamily="2" charset="0"/>
              </a:rPr>
              <a:t>: </a:t>
            </a:r>
            <a:r>
              <a:rPr lang="en-US" dirty="0">
                <a:latin typeface="Everyday Sans Medium" pitchFamily="2" charset="0"/>
              </a:rPr>
              <a:t>Highly regulated industries with strict documentation requirements sometimes lean toward Waterfall, though "Agile-at-scale" is increasingly bridging this gap (Plowman, 2023).</a:t>
            </a:r>
          </a:p>
        </p:txBody>
      </p:sp>
    </p:spTree>
    <p:extLst>
      <p:ext uri="{BB962C8B-B14F-4D97-AF65-F5344CB8AC3E}">
        <p14:creationId xmlns:p14="http://schemas.microsoft.com/office/powerpoint/2010/main" val="41495829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358C65-C5F7-CB26-C5C9-F843C36FC066}"/>
              </a:ext>
            </a:extLst>
          </p:cNvPr>
          <p:cNvSpPr txBox="1"/>
          <p:nvPr/>
        </p:nvSpPr>
        <p:spPr>
          <a:xfrm>
            <a:off x="1995268" y="2096086"/>
            <a:ext cx="8201464" cy="3139321"/>
          </a:xfrm>
          <a:prstGeom prst="rect">
            <a:avLst/>
          </a:prstGeom>
          <a:noFill/>
        </p:spPr>
        <p:txBody>
          <a:bodyPr wrap="square" rtlCol="0">
            <a:spAutoFit/>
          </a:bodyPr>
          <a:lstStyle/>
          <a:p>
            <a:r>
              <a:rPr lang="en-US" dirty="0">
                <a:latin typeface="Everyday Sans Medium" pitchFamily="2" charset="0"/>
              </a:rPr>
              <a:t>Plowman, N. (2023). </a:t>
            </a:r>
            <a:r>
              <a:rPr lang="en-US" i="1" dirty="0">
                <a:latin typeface="Everyday Sans Medium" pitchFamily="2" charset="0"/>
              </a:rPr>
              <a:t>Agile vs. Waterfall: Navigating the Project Management Landscape</a:t>
            </a:r>
            <a:r>
              <a:rPr lang="en-US" dirty="0">
                <a:latin typeface="Everyday Sans Medium" pitchFamily="2" charset="0"/>
              </a:rPr>
              <a:t>. Tech Management Press.</a:t>
            </a:r>
          </a:p>
          <a:p>
            <a:endParaRPr lang="en-US" dirty="0">
              <a:latin typeface="Everyday Sans Medium" pitchFamily="2" charset="0"/>
            </a:endParaRPr>
          </a:p>
          <a:p>
            <a:r>
              <a:rPr lang="en-US" dirty="0">
                <a:latin typeface="Everyday Sans Medium" pitchFamily="2" charset="0"/>
              </a:rPr>
              <a:t>Rigby, D. K., Elk, S., &amp; Berez, S. (2020). </a:t>
            </a:r>
            <a:r>
              <a:rPr lang="en-US" i="1" dirty="0">
                <a:latin typeface="Everyday Sans Medium" pitchFamily="2" charset="0"/>
              </a:rPr>
              <a:t>Doing Agile Right: Transformation Without Chaos</a:t>
            </a:r>
            <a:r>
              <a:rPr lang="en-US" dirty="0">
                <a:latin typeface="Everyday Sans Medium" pitchFamily="2" charset="0"/>
              </a:rPr>
              <a:t>. Harvard Business Review Press.</a:t>
            </a:r>
          </a:p>
          <a:p>
            <a:endParaRPr lang="en-US" dirty="0">
              <a:latin typeface="Everyday Sans Medium" pitchFamily="2" charset="0"/>
            </a:endParaRPr>
          </a:p>
          <a:p>
            <a:r>
              <a:rPr lang="en-US" dirty="0">
                <a:latin typeface="Everyday Sans Medium" pitchFamily="2" charset="0"/>
              </a:rPr>
              <a:t>Schwaber, K., &amp; Sutherland, J. (2020). </a:t>
            </a:r>
            <a:r>
              <a:rPr lang="en-US" i="1" dirty="0">
                <a:latin typeface="Everyday Sans Medium" pitchFamily="2" charset="0"/>
              </a:rPr>
              <a:t>The Scrum Guide: The Definitive Guide to Scrum: The Rules of the Game</a:t>
            </a:r>
            <a:r>
              <a:rPr lang="en-US" dirty="0">
                <a:latin typeface="Everyday Sans Medium" pitchFamily="2" charset="0"/>
              </a:rPr>
              <a:t>. Scrum.org.</a:t>
            </a:r>
          </a:p>
          <a:p>
            <a:endParaRPr lang="en-US" dirty="0">
              <a:latin typeface="Everyday Sans Medium" pitchFamily="2" charset="0"/>
            </a:endParaRPr>
          </a:p>
          <a:p>
            <a:r>
              <a:rPr lang="en-US" dirty="0">
                <a:latin typeface="Everyday Sans Medium" pitchFamily="2" charset="0"/>
              </a:rPr>
              <a:t>West, D. (2021). </a:t>
            </a:r>
            <a:r>
              <a:rPr lang="en-US" i="1" dirty="0">
                <a:latin typeface="Everyday Sans Medium" pitchFamily="2" charset="0"/>
              </a:rPr>
              <a:t>The State of Agile: Navigating the Digital Transformation</a:t>
            </a:r>
            <a:r>
              <a:rPr lang="en-US" dirty="0">
                <a:latin typeface="Everyday Sans Medium" pitchFamily="2" charset="0"/>
              </a:rPr>
              <a:t>. Forrester Research.</a:t>
            </a:r>
          </a:p>
        </p:txBody>
      </p:sp>
      <p:sp>
        <p:nvSpPr>
          <p:cNvPr id="3" name="Rectangle 2">
            <a:extLst>
              <a:ext uri="{FF2B5EF4-FFF2-40B4-BE49-F238E27FC236}">
                <a16:creationId xmlns:a16="http://schemas.microsoft.com/office/drawing/2014/main" id="{F7B4C129-97CC-0ACE-7198-9EBF5E170915}"/>
              </a:ext>
            </a:extLst>
          </p:cNvPr>
          <p:cNvSpPr/>
          <p:nvPr/>
        </p:nvSpPr>
        <p:spPr>
          <a:xfrm>
            <a:off x="4602642" y="1048386"/>
            <a:ext cx="2986715" cy="707886"/>
          </a:xfrm>
          <a:prstGeom prst="rect">
            <a:avLst/>
          </a:prstGeom>
          <a:noFill/>
        </p:spPr>
        <p:txBody>
          <a:bodyPr wrap="none" lIns="91440" tIns="45720" rIns="91440" bIns="45720">
            <a:spAutoFit/>
          </a:bodyPr>
          <a:lstStyle/>
          <a:p>
            <a:pPr algn="ctr"/>
            <a:r>
              <a:rPr lang="en-US" sz="4000" b="0" cap="none" spc="0" dirty="0">
                <a:ln w="0"/>
                <a:effectLst/>
              </a:rPr>
              <a:t>References</a:t>
            </a:r>
          </a:p>
        </p:txBody>
      </p:sp>
    </p:spTree>
    <p:extLst>
      <p:ext uri="{BB962C8B-B14F-4D97-AF65-F5344CB8AC3E}">
        <p14:creationId xmlns:p14="http://schemas.microsoft.com/office/powerpoint/2010/main" val="1098053691"/>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Slice</Template>
  <TotalTime>318</TotalTime>
  <Words>1083</Words>
  <Application>Microsoft Office PowerPoint</Application>
  <PresentationFormat>Widescreen</PresentationFormat>
  <Paragraphs>59</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Arial</vt:lpstr>
      <vt:lpstr>Century Gothic</vt:lpstr>
      <vt:lpstr>Everyday Sans Medium</vt:lpstr>
      <vt:lpstr>Wingdings 3</vt:lpstr>
      <vt:lpstr>Slice</vt:lpstr>
      <vt:lpstr>CS250 Final Project: Agile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KEITH TOMANY - k0t0b9w</dc:creator>
  <cp:lastModifiedBy>Tomany, Keith</cp:lastModifiedBy>
  <cp:revision>5</cp:revision>
  <dcterms:created xsi:type="dcterms:W3CDTF">2026-03-01T13:30:28Z</dcterms:created>
  <dcterms:modified xsi:type="dcterms:W3CDTF">2026-03-02T03:47:44Z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44a753e-b937-4727-8173-58e965e4ef41_Enabled">
    <vt:lpwstr>true</vt:lpwstr>
  </property>
  <property fmtid="{D5CDD505-2E9C-101B-9397-08002B2CF9AE}" pid="3" name="MSIP_Label_444a753e-b937-4727-8173-58e965e4ef41_SetDate">
    <vt:lpwstr>2026-03-01T18:12:24Z</vt:lpwstr>
  </property>
  <property fmtid="{D5CDD505-2E9C-101B-9397-08002B2CF9AE}" pid="4" name="MSIP_Label_444a753e-b937-4727-8173-58e965e4ef41_Method">
    <vt:lpwstr>Standard</vt:lpwstr>
  </property>
  <property fmtid="{D5CDD505-2E9C-101B-9397-08002B2CF9AE}" pid="5" name="MSIP_Label_444a753e-b937-4727-8173-58e965e4ef41_Name">
    <vt:lpwstr>0a306a40-471c-426e-91d6-468476917b5e</vt:lpwstr>
  </property>
  <property fmtid="{D5CDD505-2E9C-101B-9397-08002B2CF9AE}" pid="6" name="MSIP_Label_444a753e-b937-4727-8173-58e965e4ef41_SiteId">
    <vt:lpwstr>3cbcc3d3-094d-4006-9849-0d11d61f484d</vt:lpwstr>
  </property>
  <property fmtid="{D5CDD505-2E9C-101B-9397-08002B2CF9AE}" pid="7" name="MSIP_Label_444a753e-b937-4727-8173-58e965e4ef41_ActionId">
    <vt:lpwstr>de94d910-86e2-420d-918d-96588e030104</vt:lpwstr>
  </property>
  <property fmtid="{D5CDD505-2E9C-101B-9397-08002B2CF9AE}" pid="8" name="MSIP_Label_444a753e-b937-4727-8173-58e965e4ef41_ContentBits">
    <vt:lpwstr>0</vt:lpwstr>
  </property>
  <property fmtid="{D5CDD505-2E9C-101B-9397-08002B2CF9AE}" pid="9" name="MSIP_Label_444a753e-b937-4727-8173-58e965e4ef41_Tag">
    <vt:lpwstr>10, 3, 0, 1</vt:lpwstr>
  </property>
</Properties>
</file>